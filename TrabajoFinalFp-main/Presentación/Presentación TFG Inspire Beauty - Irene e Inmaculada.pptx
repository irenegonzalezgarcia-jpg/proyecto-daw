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La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C13ACB-E27D-47CE-ACBB-C24EDE242B41}">
  <a:tblStyle styleId="{CDC13ACB-E27D-47CE-ACBB-C24EDE242B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LatoLight-bold.fntdata"/><Relationship Id="rId27" Type="http://schemas.openxmlformats.org/officeDocument/2006/relationships/font" Target="fonts/Lato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Buenas tardes a todos,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Mi nombre es Irene González y, junto a mi compañera Inmaculada Hortelano, </a:t>
            </a:r>
            <a:r>
              <a:rPr b="1" lang="en-US">
                <a:solidFill>
                  <a:schemeClr val="dk1"/>
                </a:solidFill>
              </a:rPr>
              <a:t>hemos desarrollado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Inspire Beauty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Este </a:t>
            </a:r>
            <a:r>
              <a:rPr b="1" lang="en-US">
                <a:solidFill>
                  <a:schemeClr val="dk1"/>
                </a:solidFill>
              </a:rPr>
              <a:t>proyecto nace</a:t>
            </a:r>
            <a:r>
              <a:rPr lang="en-US">
                <a:solidFill>
                  <a:schemeClr val="dk1"/>
                </a:solidFill>
              </a:rPr>
              <a:t> con un objetivo claro: </a:t>
            </a:r>
            <a:r>
              <a:rPr b="1" lang="en-US">
                <a:solidFill>
                  <a:schemeClr val="dk1"/>
                </a:solidFill>
              </a:rPr>
              <a:t>digitalizar y facilitar</a:t>
            </a:r>
            <a:r>
              <a:rPr lang="en-US">
                <a:solidFill>
                  <a:schemeClr val="dk1"/>
                </a:solidFill>
              </a:rPr>
              <a:t> el día a día de un centro de estética, un sector que a menudo se queda atrás en el tema tecnológico..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En esta primera parte, </a:t>
            </a:r>
            <a:r>
              <a:rPr b="1" lang="en-US">
                <a:solidFill>
                  <a:schemeClr val="dk1"/>
                </a:solidFill>
              </a:rPr>
              <a:t>les explicaré todo lo que tiene que ver con la capa visual, la experiencia de usuario y el desarrollo del Front.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Para que puedan seguir el hilo de la exposición, les presento </a:t>
            </a:r>
            <a:r>
              <a:rPr b="1" lang="en-US">
                <a:solidFill>
                  <a:schemeClr val="dk1"/>
                </a:solidFill>
              </a:rPr>
              <a:t>mi hoja de ruta</a:t>
            </a:r>
            <a:r>
              <a:rPr lang="en-U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En primer lugar, </a:t>
            </a:r>
            <a:r>
              <a:rPr b="1" lang="en-US">
                <a:solidFill>
                  <a:schemeClr val="dk1"/>
                </a:solidFill>
              </a:rPr>
              <a:t>analizaré</a:t>
            </a:r>
            <a:r>
              <a:rPr lang="en-US">
                <a:solidFill>
                  <a:schemeClr val="dk1"/>
                </a:solidFill>
              </a:rPr>
              <a:t> de dónde nace la </a:t>
            </a:r>
            <a:r>
              <a:rPr b="1" lang="en-US">
                <a:solidFill>
                  <a:schemeClr val="dk1"/>
                </a:solidFill>
              </a:rPr>
              <a:t>necesidad </a:t>
            </a:r>
            <a:r>
              <a:rPr lang="en-US">
                <a:solidFill>
                  <a:schemeClr val="dk1"/>
                </a:solidFill>
              </a:rPr>
              <a:t>del proyecto;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después, explicaré cómo </a:t>
            </a:r>
            <a:r>
              <a:rPr b="1" lang="en-US">
                <a:solidFill>
                  <a:schemeClr val="dk1"/>
                </a:solidFill>
              </a:rPr>
              <a:t>nos hemos organizado</a:t>
            </a:r>
            <a:r>
              <a:rPr lang="en-US">
                <a:solidFill>
                  <a:schemeClr val="dk1"/>
                </a:solidFill>
              </a:rPr>
              <a:t> y cómo </a:t>
            </a:r>
            <a:r>
              <a:rPr b="1" lang="en-US">
                <a:solidFill>
                  <a:schemeClr val="dk1"/>
                </a:solidFill>
              </a:rPr>
              <a:t>he desarrollado</a:t>
            </a:r>
            <a:r>
              <a:rPr lang="en-US">
                <a:solidFill>
                  <a:schemeClr val="dk1"/>
                </a:solidFill>
              </a:rPr>
              <a:t> el proceso de diseño, desde los primeros bocetos hasta llegar al código real.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Para finalizar, les haré una </a:t>
            </a:r>
            <a:r>
              <a:rPr b="1" lang="en-US">
                <a:solidFill>
                  <a:schemeClr val="dk1"/>
                </a:solidFill>
              </a:rPr>
              <a:t>demostración en vivo</a:t>
            </a:r>
            <a:r>
              <a:rPr lang="en-US">
                <a:solidFill>
                  <a:schemeClr val="dk1"/>
                </a:solidFill>
              </a:rPr>
              <a:t> para mostrar el funcionamiento real de la plataforma.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1F1F1F"/>
                </a:solidFill>
              </a:rPr>
              <a:t>Analizando cómo trabajan muchos centros de estética, nos dimos cuenta de que la gran mayoría sigue dependiendo de </a:t>
            </a:r>
            <a:r>
              <a:rPr b="1" lang="en-US">
                <a:solidFill>
                  <a:srgbClr val="1F1F1F"/>
                </a:solidFill>
              </a:rPr>
              <a:t>agendas de papel</a:t>
            </a:r>
            <a:r>
              <a:rPr lang="en-US">
                <a:solidFill>
                  <a:srgbClr val="1F1F1F"/>
                </a:solidFill>
              </a:rPr>
              <a:t>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1F1F1F"/>
                </a:solidFill>
              </a:rPr>
              <a:t>Esto causa </a:t>
            </a:r>
            <a:r>
              <a:rPr b="1" lang="en-US">
                <a:solidFill>
                  <a:srgbClr val="1F1F1F"/>
                </a:solidFill>
              </a:rPr>
              <a:t>dos problemas</a:t>
            </a:r>
            <a:r>
              <a:rPr lang="en-US">
                <a:solidFill>
                  <a:srgbClr val="1F1F1F"/>
                </a:solidFill>
              </a:rPr>
              <a:t> graves: 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1F1F1F"/>
                </a:solidFill>
              </a:rPr>
              <a:t>1º, es muy difícil </a:t>
            </a:r>
            <a:r>
              <a:rPr b="1" lang="en-US">
                <a:solidFill>
                  <a:srgbClr val="1F1F1F"/>
                </a:solidFill>
              </a:rPr>
              <a:t>organizar bien los tiempos</a:t>
            </a:r>
            <a:r>
              <a:rPr lang="en-US">
                <a:solidFill>
                  <a:srgbClr val="1F1F1F"/>
                </a:solidFill>
              </a:rPr>
              <a:t> de preparación entre un servicio y otro.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1F1F1F"/>
                </a:solidFill>
              </a:rPr>
              <a:t>Y 2º, existe una '</a:t>
            </a:r>
            <a:r>
              <a:rPr b="1" lang="en-US">
                <a:solidFill>
                  <a:srgbClr val="1F1F1F"/>
                </a:solidFill>
              </a:rPr>
              <a:t>brecha digital</a:t>
            </a:r>
            <a:r>
              <a:rPr lang="en-US">
                <a:solidFill>
                  <a:srgbClr val="1F1F1F"/>
                </a:solidFill>
              </a:rPr>
              <a:t>', ya que el negocio no tiene visibilidad en la red. 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Hoy en día, si un cliente no puede consultar un tratamiento </a:t>
            </a:r>
            <a:r>
              <a:rPr b="1" lang="en-US">
                <a:solidFill>
                  <a:srgbClr val="1F1F1F"/>
                </a:solidFill>
              </a:rPr>
              <a:t>desde su ordenador o móvil</a:t>
            </a:r>
            <a:r>
              <a:rPr lang="en-US">
                <a:solidFill>
                  <a:srgbClr val="1F1F1F"/>
                </a:solidFill>
              </a:rPr>
              <a:t>, es un cliente que </a:t>
            </a:r>
            <a:r>
              <a:rPr b="1" lang="en-US">
                <a:solidFill>
                  <a:srgbClr val="1F1F1F"/>
                </a:solidFill>
              </a:rPr>
              <a:t>se pierde</a:t>
            </a:r>
            <a:r>
              <a:rPr lang="en-US">
                <a:solidFill>
                  <a:srgbClr val="1F1F1F"/>
                </a:solidFill>
              </a:rPr>
              <a:t>.</a:t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Para la metodología de trabajo nos hemos apoyado en </a:t>
            </a:r>
            <a:r>
              <a:rPr b="1" lang="en-US">
                <a:solidFill>
                  <a:schemeClr val="dk1"/>
                </a:solidFill>
              </a:rPr>
              <a:t>herramientas de la industria real.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Usamos </a:t>
            </a:r>
            <a:r>
              <a:rPr b="1" lang="en-US">
                <a:solidFill>
                  <a:schemeClr val="dk1"/>
                </a:solidFill>
              </a:rPr>
              <a:t>GitHub</a:t>
            </a:r>
            <a:r>
              <a:rPr lang="en-US">
                <a:solidFill>
                  <a:schemeClr val="dk1"/>
                </a:solidFill>
              </a:rPr>
              <a:t> para compartir el código y asegurarnos de que mi diseño </a:t>
            </a:r>
            <a:r>
              <a:rPr lang="en-US">
                <a:solidFill>
                  <a:schemeClr val="dk1"/>
                </a:solidFill>
              </a:rPr>
              <a:t>encaja</a:t>
            </a:r>
            <a:r>
              <a:rPr lang="en-US">
                <a:solidFill>
                  <a:schemeClr val="dk1"/>
                </a:solidFill>
              </a:rPr>
              <a:t> perfectamente con su sistema interno.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Para la gestión del proyecto, </a:t>
            </a:r>
            <a:r>
              <a:rPr b="1" lang="en-US">
                <a:solidFill>
                  <a:schemeClr val="dk1"/>
                </a:solidFill>
              </a:rPr>
              <a:t>he utilizado Trello</a:t>
            </a:r>
            <a:r>
              <a:rPr lang="en-US">
                <a:solidFill>
                  <a:schemeClr val="dk1"/>
                </a:solidFill>
              </a:rPr>
              <a:t>, me ha servido para gestionar el flujo de trabajo </a:t>
            </a:r>
            <a:r>
              <a:rPr lang="en-US">
                <a:solidFill>
                  <a:schemeClr val="dk1"/>
                </a:solidFill>
              </a:rPr>
              <a:t>en tres columnas </a:t>
            </a:r>
            <a:r>
              <a:rPr lang="en-US">
                <a:solidFill>
                  <a:schemeClr val="dk1"/>
                </a:solidFill>
              </a:rPr>
              <a:t>como podéis ver y así poder llegar a tiempo en los plazos de entrega.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Ha sido necesaria la comunicación constante por ambas partes para ponernos de acuerdo en las decisiones.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Para </a:t>
            </a:r>
            <a:r>
              <a:rPr lang="en-US">
                <a:solidFill>
                  <a:schemeClr val="dk1"/>
                </a:solidFill>
              </a:rPr>
              <a:t>solucionar</a:t>
            </a:r>
            <a:r>
              <a:rPr lang="en-US">
                <a:solidFill>
                  <a:schemeClr val="dk1"/>
                </a:solidFill>
              </a:rPr>
              <a:t> los problemas que hemos visto anteriormente, tenemos estas herramientas: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He creado una </a:t>
            </a:r>
            <a:r>
              <a:rPr b="1" lang="en-US">
                <a:solidFill>
                  <a:schemeClr val="dk1"/>
                </a:solidFill>
              </a:rPr>
              <a:t>página de bienvenida interactiva</a:t>
            </a:r>
            <a:r>
              <a:rPr lang="en-US">
                <a:solidFill>
                  <a:schemeClr val="dk1"/>
                </a:solidFill>
              </a:rPr>
              <a:t> que funciona como escaparate </a:t>
            </a:r>
            <a:r>
              <a:rPr lang="en-US">
                <a:solidFill>
                  <a:srgbClr val="1F1F1F"/>
                </a:solidFill>
              </a:rPr>
              <a:t>profesional del negocio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También incluye un catálogo visual para </a:t>
            </a:r>
            <a:r>
              <a:rPr b="1" lang="en-US">
                <a:solidFill>
                  <a:schemeClr val="dk1"/>
                </a:solidFill>
              </a:rPr>
              <a:t>consultar los tratamientos</a:t>
            </a:r>
            <a:r>
              <a:rPr lang="en-US">
                <a:solidFill>
                  <a:schemeClr val="dk1"/>
                </a:solidFill>
              </a:rPr>
              <a:t> detalladamente.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Y lo más importante: un </a:t>
            </a:r>
            <a:r>
              <a:rPr b="1" lang="en-US">
                <a:solidFill>
                  <a:schemeClr val="dk1"/>
                </a:solidFill>
              </a:rPr>
              <a:t>sistema de validación</a:t>
            </a:r>
            <a:r>
              <a:rPr lang="en-US">
                <a:solidFill>
                  <a:schemeClr val="dk1"/>
                </a:solidFill>
              </a:rPr>
              <a:t> que revisa que los datos del cliente sean correctos </a:t>
            </a:r>
            <a:r>
              <a:rPr b="1" lang="en-US">
                <a:solidFill>
                  <a:schemeClr val="dk1"/>
                </a:solidFill>
              </a:rPr>
              <a:t>antes de enviarlos</a:t>
            </a:r>
            <a:r>
              <a:rPr lang="en-US">
                <a:solidFill>
                  <a:schemeClr val="dk1"/>
                </a:solidFill>
              </a:rPr>
              <a:t>, para que al centro no le llegue información incompleta.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Antes de escribir una sola línea de código, quise </a:t>
            </a:r>
            <a:r>
              <a:rPr b="1" lang="en-US">
                <a:solidFill>
                  <a:schemeClr val="dk1"/>
                </a:solidFill>
              </a:rPr>
              <a:t>estructurar </a:t>
            </a:r>
            <a:r>
              <a:rPr lang="en-US">
                <a:solidFill>
                  <a:schemeClr val="dk1"/>
                </a:solidFill>
              </a:rPr>
              <a:t>toda la información mediante </a:t>
            </a:r>
            <a:r>
              <a:rPr b="1" lang="en-US">
                <a:solidFill>
                  <a:schemeClr val="dk1"/>
                </a:solidFill>
              </a:rPr>
              <a:t>wireframes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Esto me ayudó a decidir dónde colocar cada elemento clave, como los </a:t>
            </a:r>
            <a:r>
              <a:rPr b="1" lang="en-US">
                <a:solidFill>
                  <a:schemeClr val="dk1"/>
                </a:solidFill>
              </a:rPr>
              <a:t>servicios estrella o el botón de reservas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Mi objetivo principal ha sido </a:t>
            </a:r>
            <a:r>
              <a:rPr b="1" lang="en-US">
                <a:solidFill>
                  <a:schemeClr val="dk1"/>
                </a:solidFill>
              </a:rPr>
              <a:t>reducir la fatiga visual</a:t>
            </a:r>
            <a:r>
              <a:rPr lang="en-US">
                <a:solidFill>
                  <a:schemeClr val="dk1"/>
                </a:solidFill>
              </a:rPr>
              <a:t> del usuario, consiguiendo que el diseño fuera limpio, elegante y muy fácil de usar.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En el apartado técnico, he apostado por un </a:t>
            </a:r>
            <a:r>
              <a:rPr b="1" lang="en-US">
                <a:solidFill>
                  <a:schemeClr val="dk1"/>
                </a:solidFill>
              </a:rPr>
              <a:t>desarrollo artesanal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Todo el diseño está hecho con </a:t>
            </a:r>
            <a:r>
              <a:rPr b="1" lang="en-US">
                <a:solidFill>
                  <a:schemeClr val="dk1"/>
                </a:solidFill>
              </a:rPr>
              <a:t>código propio</a:t>
            </a:r>
            <a:r>
              <a:rPr lang="en-US">
                <a:solidFill>
                  <a:schemeClr val="dk1"/>
                </a:solidFill>
              </a:rPr>
              <a:t>, utilizando </a:t>
            </a:r>
            <a:r>
              <a:rPr b="1" lang="en-US">
                <a:solidFill>
                  <a:schemeClr val="dk1"/>
                </a:solidFill>
              </a:rPr>
              <a:t>HTML y CSS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nativo</a:t>
            </a:r>
            <a:r>
              <a:rPr lang="en-US">
                <a:solidFill>
                  <a:schemeClr val="dk1"/>
                </a:solidFill>
              </a:rPr>
              <a:t>, sin usar plantillas de terceros.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También usé </a:t>
            </a:r>
            <a:r>
              <a:rPr b="1" lang="en-US">
                <a:solidFill>
                  <a:schemeClr val="dk1"/>
                </a:solidFill>
              </a:rPr>
              <a:t>JavaScript puro</a:t>
            </a:r>
            <a:r>
              <a:rPr lang="en-US">
                <a:solidFill>
                  <a:schemeClr val="dk1"/>
                </a:solidFill>
              </a:rPr>
              <a:t> para la interacción del cliente.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Para la imagen visual, elegí una </a:t>
            </a:r>
            <a:r>
              <a:rPr lang="en-US">
                <a:solidFill>
                  <a:schemeClr val="dk1"/>
                </a:solidFill>
              </a:rPr>
              <a:t>tipología</a:t>
            </a:r>
            <a:r>
              <a:rPr lang="en-US">
                <a:solidFill>
                  <a:schemeClr val="dk1"/>
                </a:solidFill>
              </a:rPr>
              <a:t> que transmite elegancia y modernidad para </a:t>
            </a:r>
            <a:r>
              <a:rPr lang="en-US">
                <a:solidFill>
                  <a:schemeClr val="dk1"/>
                </a:solidFill>
              </a:rPr>
              <a:t>garantizar</a:t>
            </a:r>
            <a:r>
              <a:rPr lang="en-US">
                <a:solidFill>
                  <a:schemeClr val="dk1"/>
                </a:solidFill>
              </a:rPr>
              <a:t> que los textos se lean bien en cualquier pantalla.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Diseñar cómo se adapta la web a cada dispositivo ha sido un </a:t>
            </a:r>
            <a:r>
              <a:rPr b="1" lang="en-US">
                <a:solidFill>
                  <a:schemeClr val="dk1"/>
                </a:solidFill>
              </a:rPr>
              <a:t>reto técnico importante</a:t>
            </a:r>
            <a:r>
              <a:rPr lang="en-US">
                <a:solidFill>
                  <a:schemeClr val="dk1"/>
                </a:solidFill>
              </a:rPr>
              <a:t> al no usar ayudas externas.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He programado lo que llamamos un '</a:t>
            </a:r>
            <a:r>
              <a:rPr b="1" lang="en-US">
                <a:solidFill>
                  <a:schemeClr val="dk1"/>
                </a:solidFill>
              </a:rPr>
              <a:t>diseño líquido</a:t>
            </a:r>
            <a:r>
              <a:rPr lang="en-US">
                <a:solidFill>
                  <a:schemeClr val="dk1"/>
                </a:solidFill>
              </a:rPr>
              <a:t>'. Como ven, el </a:t>
            </a:r>
            <a:r>
              <a:rPr b="1" lang="en-US">
                <a:solidFill>
                  <a:schemeClr val="dk1"/>
                </a:solidFill>
              </a:rPr>
              <a:t>menú en el móvil</a:t>
            </a:r>
            <a:r>
              <a:rPr lang="en-US">
                <a:solidFill>
                  <a:schemeClr val="dk1"/>
                </a:solidFill>
              </a:rPr>
              <a:t> se vuelve vertical para que sea fácil de tocar con el dedo, y en el </a:t>
            </a:r>
            <a:r>
              <a:rPr b="1" lang="en-US">
                <a:solidFill>
                  <a:schemeClr val="dk1"/>
                </a:solidFill>
              </a:rPr>
              <a:t>ordenador </a:t>
            </a:r>
            <a:r>
              <a:rPr lang="en-US">
                <a:solidFill>
                  <a:schemeClr val="dk1"/>
                </a:solidFill>
              </a:rPr>
              <a:t>se transforma en horizontal automáticamente.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 ser </a:t>
            </a:r>
            <a:r>
              <a:rPr b="1" lang="en-US">
                <a:solidFill>
                  <a:schemeClr val="dk1"/>
                </a:solidFill>
              </a:rPr>
              <a:t>código propio y ligero</a:t>
            </a:r>
            <a:r>
              <a:rPr lang="en-US">
                <a:solidFill>
                  <a:schemeClr val="dk1"/>
                </a:solidFill>
              </a:rPr>
              <a:t>, la web carga de forma casi instantánea.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La web está organizada pensando en </a:t>
            </a:r>
            <a:r>
              <a:rPr b="1" lang="en-US">
                <a:solidFill>
                  <a:schemeClr val="dk1"/>
                </a:solidFill>
              </a:rPr>
              <a:t>dos tipos de usuarios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Por un lado, están las </a:t>
            </a:r>
            <a:r>
              <a:rPr b="1" lang="en-US">
                <a:solidFill>
                  <a:schemeClr val="dk1"/>
                </a:solidFill>
              </a:rPr>
              <a:t>páginas públicas</a:t>
            </a:r>
            <a:r>
              <a:rPr lang="en-US">
                <a:solidFill>
                  <a:schemeClr val="dk1"/>
                </a:solidFill>
              </a:rPr>
              <a:t> para que los clientes </a:t>
            </a:r>
            <a:r>
              <a:rPr b="1" lang="en-US">
                <a:solidFill>
                  <a:schemeClr val="dk1"/>
                </a:solidFill>
              </a:rPr>
              <a:t>consulten el catálogo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Y por otro lado, incluimos este acceso privado de inicio de sesión. Este botón</a:t>
            </a:r>
            <a:r>
              <a:rPr b="1" lang="en-US">
                <a:solidFill>
                  <a:schemeClr val="dk1"/>
                </a:solidFill>
              </a:rPr>
              <a:t> es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solo para los profesionales</a:t>
            </a:r>
            <a:r>
              <a:rPr lang="en-US">
                <a:solidFill>
                  <a:schemeClr val="dk1"/>
                </a:solidFill>
              </a:rPr>
              <a:t> del centro;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allí es donde las esteticistas pueden entrar de forma interna para </a:t>
            </a:r>
            <a:r>
              <a:rPr b="1" lang="en-US">
                <a:solidFill>
                  <a:schemeClr val="dk1"/>
                </a:solidFill>
              </a:rPr>
              <a:t>gestionar todas las citas y horarios de la clínica</a:t>
            </a:r>
            <a:r>
              <a:rPr lang="en-US">
                <a:solidFill>
                  <a:schemeClr val="dk1"/>
                </a:solidFill>
              </a:rPr>
              <a:t>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Para que mi trabajo y el de Inma se conectaran, nos </a:t>
            </a:r>
            <a:r>
              <a:rPr b="1" lang="en-US">
                <a:solidFill>
                  <a:schemeClr val="dk1"/>
                </a:solidFill>
              </a:rPr>
              <a:t>repartimos las tareas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Mi </a:t>
            </a:r>
            <a:r>
              <a:rPr b="1" lang="en-US">
                <a:solidFill>
                  <a:schemeClr val="dk1"/>
                </a:solidFill>
              </a:rPr>
              <a:t>código en la pantalla</a:t>
            </a:r>
            <a:r>
              <a:rPr lang="en-US">
                <a:solidFill>
                  <a:schemeClr val="dk1"/>
                </a:solidFill>
              </a:rPr>
              <a:t> se encarga de revisar que el cliente </a:t>
            </a:r>
            <a:r>
              <a:rPr b="1" lang="en-US">
                <a:solidFill>
                  <a:schemeClr val="dk1"/>
                </a:solidFill>
              </a:rPr>
              <a:t>no envíe formularios vacíos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chemeClr val="dk1"/>
                </a:solidFill>
              </a:rPr>
              <a:t>avisándole</a:t>
            </a:r>
            <a:r>
              <a:rPr lang="en-US">
                <a:solidFill>
                  <a:schemeClr val="dk1"/>
                </a:solidFill>
              </a:rPr>
              <a:t> en el momento si hay un error.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Una vez que los </a:t>
            </a:r>
            <a:r>
              <a:rPr b="1" lang="en-US">
                <a:solidFill>
                  <a:schemeClr val="dk1"/>
                </a:solidFill>
              </a:rPr>
              <a:t>datos son correctos</a:t>
            </a:r>
            <a:r>
              <a:rPr lang="en-US">
                <a:solidFill>
                  <a:schemeClr val="dk1"/>
                </a:solidFill>
              </a:rPr>
              <a:t>, mi interfaz se comunica con el motor interno que ha creado mi compañera para guardar esa información en la base de datos.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Les voy a mostrar la </a:t>
            </a:r>
            <a:r>
              <a:rPr b="1" lang="en-US">
                <a:solidFill>
                  <a:schemeClr val="dk1"/>
                </a:solidFill>
              </a:rPr>
              <a:t>aplicación en ejecución local</a:t>
            </a:r>
            <a:r>
              <a:rPr lang="en-US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Pueden ver que la navegación entre servicios es muy fluida.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Si vamos al apartado de contacto e intento pulsar el botón de enviar sin haber escrito nada, la propia web me bloquea y me avisa en tiempo real.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Esto demuestra que el código nativo funciona correctamente y protege la entrada de datos al servidor.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Muchísimas gracias por su tiempo y atención.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Ahora le cedo la palabra a mi </a:t>
            </a:r>
            <a:r>
              <a:rPr b="1" lang="en-US">
                <a:solidFill>
                  <a:schemeClr val="dk1"/>
                </a:solidFill>
              </a:rPr>
              <a:t>compañera Inma</a:t>
            </a:r>
            <a:r>
              <a:rPr lang="en-US">
                <a:solidFill>
                  <a:schemeClr val="dk1"/>
                </a:solidFill>
              </a:rPr>
              <a:t>, que les detallará todo el desarrollo del back.</a:t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604962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PROYECTO FINAL DE GRADO DAW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2138362"/>
            <a:ext cx="112014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5"/>
              <a:buFont typeface="Arial"/>
              <a:buNone/>
            </a:pPr>
            <a:r>
              <a:rPr b="1" i="0" lang="en-US" sz="6375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Inspire Beauty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524500" y="3328987"/>
            <a:ext cx="1143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538537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Lato Light"/>
                <a:ea typeface="Lato Light"/>
                <a:cs typeface="Lato Light"/>
                <a:sym typeface="Lato Light"/>
              </a:rPr>
              <a:t>Digitalización y Gestión para Centros de Estética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567237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Irene González García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(Frontend)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910137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Inmaculada Hortelano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(Backend)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1985962"/>
            <a:ext cx="530066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Hoja de Ruta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238250" y="2586037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Análisis del Problema y Necesidades.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238250" y="3119437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Metodología y Planificación (GitHub/Trello).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238250" y="3652837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UX/UI: Del Wireframe al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238250" y="4186237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Stack Tecnológico: 100% CSS Nativo.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238250" y="4719637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Adaptabilidad y Arquitectura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238250" y="5253037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Integración y Persistencia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571500"/>
            <a:ext cx="1095136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860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194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528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862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7196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2530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title="log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4275" y="2069800"/>
            <a:ext cx="3123675" cy="2718394"/>
          </a:xfrm>
          <a:prstGeom prst="rect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14562"/>
            <a:ext cx="33654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214562"/>
            <a:ext cx="33654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14562"/>
            <a:ext cx="3365599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8913" y="2595562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077913" y="3214687"/>
            <a:ext cx="27336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Gestión Manual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143000" y="3767137"/>
            <a:ext cx="26034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Uso de sistemas analógicos que limitan el crecimiento y la organización del centro.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3926" y="2595562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588576" y="3211000"/>
            <a:ext cx="30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Eficiencia temporal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4794200" y="3767137"/>
            <a:ext cx="260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Dificultad para organizar tiempos de preparación entre servicios.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04312" y="2595562"/>
            <a:ext cx="485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380310" y="3214687"/>
            <a:ext cx="273377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Brecha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445400" y="3767137"/>
            <a:ext cx="2603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Centros de gran potencial pero sin un escaparate profesional online.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00125" y="571500"/>
            <a:ext cx="1095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PROBLEMA Y LA NECESIDAD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1727425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6858000" y="24003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GitHub: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Control de versiones y flujo colaborativo Front-Back.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858000" y="3276600"/>
            <a:ext cx="4572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Trello: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Gestión de hitos mediante metodología Kanban (Pendiente, En Proceso, Hecho).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858000" y="4495800"/>
            <a:ext cx="4572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Sincronización: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Comunicación constante para la integridad de datos PHP y HTML.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000125" y="571500"/>
            <a:ext cx="1095136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METODOLOGÍA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0030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7660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49580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title="trello.png"/>
          <p:cNvPicPr preferRelativeResize="0"/>
          <p:nvPr/>
        </p:nvPicPr>
        <p:blipFill rotWithShape="1">
          <a:blip r:embed="rId6">
            <a:alphaModFix/>
          </a:blip>
          <a:srcRect b="0" l="-3700" r="3700" t="0"/>
          <a:stretch/>
        </p:blipFill>
        <p:spPr>
          <a:xfrm>
            <a:off x="680925" y="1932150"/>
            <a:ext cx="5186473" cy="3723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762000" y="571500"/>
            <a:ext cx="5730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000125" y="571500"/>
            <a:ext cx="10191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INSPIRE BEAUTY: LA SOLUCIÓN</a:t>
            </a:r>
            <a:endParaRPr b="1" i="0" sz="3150" u="none" cap="none" strike="noStrike">
              <a:solidFill>
                <a:srgbClr val="33415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62000" y="14287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sistema integral enfocado en una </a:t>
            </a:r>
            <a:r>
              <a:rPr b="1" i="0" lang="en-US" sz="200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presencia digital profesional</a:t>
            </a:r>
            <a:r>
              <a:rPr b="0" i="0" lang="en-US" sz="2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como motor de captación:</a:t>
            </a:r>
            <a:endParaRPr b="0" i="0" sz="200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4" name="Google Shape;154;p17"/>
          <p:cNvGrpSpPr/>
          <p:nvPr/>
        </p:nvGrpSpPr>
        <p:grpSpPr>
          <a:xfrm>
            <a:off x="762000" y="2476500"/>
            <a:ext cx="3238500" cy="3429000"/>
            <a:chOff x="762000" y="2476500"/>
            <a:chExt cx="3238500" cy="3429000"/>
          </a:xfrm>
        </p:grpSpPr>
        <p:sp>
          <p:nvSpPr>
            <p:cNvPr id="155" name="Google Shape;155;p17"/>
            <p:cNvSpPr/>
            <p:nvPr/>
          </p:nvSpPr>
          <p:spPr>
            <a:xfrm>
              <a:off x="762000" y="2476500"/>
              <a:ext cx="3238500" cy="34290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762000" y="2476500"/>
              <a:ext cx="3238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334155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Landing Page interactiva</a:t>
              </a:r>
              <a:endParaRPr b="1" i="0" sz="260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Diseño enfocado a la conversión y experiencia de usuario fluida.</a:t>
              </a:r>
              <a:endParaRPr b="0" i="0" sz="14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4476750" y="2476500"/>
            <a:ext cx="3238500" cy="3429000"/>
            <a:chOff x="4476750" y="2476500"/>
            <a:chExt cx="3238500" cy="3429000"/>
          </a:xfrm>
        </p:grpSpPr>
        <p:sp>
          <p:nvSpPr>
            <p:cNvPr id="158" name="Google Shape;158;p17"/>
            <p:cNvSpPr/>
            <p:nvPr/>
          </p:nvSpPr>
          <p:spPr>
            <a:xfrm>
              <a:off x="4476750" y="2476500"/>
              <a:ext cx="3238500" cy="34290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4476750" y="2476500"/>
              <a:ext cx="3238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334155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Catálogo dinámico</a:t>
              </a:r>
              <a:endParaRPr b="1" i="0" sz="260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Visualización atractiva y organizada de todos los tratamientos ofrecidos.</a:t>
              </a:r>
              <a:endParaRPr b="0" i="0" sz="14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8191500" y="2476500"/>
            <a:ext cx="3238500" cy="3429000"/>
            <a:chOff x="8191500" y="2476500"/>
            <a:chExt cx="3238500" cy="3429000"/>
          </a:xfrm>
        </p:grpSpPr>
        <p:sp>
          <p:nvSpPr>
            <p:cNvPr id="161" name="Google Shape;161;p17"/>
            <p:cNvSpPr/>
            <p:nvPr/>
          </p:nvSpPr>
          <p:spPr>
            <a:xfrm>
              <a:off x="8191500" y="2476500"/>
              <a:ext cx="3238500" cy="34290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8191500" y="2476500"/>
              <a:ext cx="3238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334155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Validación de datos</a:t>
              </a:r>
              <a:endParaRPr b="1" i="0" sz="260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Integridad de la información en tiempo real para una gestión eficiente.</a:t>
              </a:r>
              <a:endParaRPr b="0" i="0" sz="14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408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2200275"/>
            <a:ext cx="530066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Jerarquía Visual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2752725"/>
            <a:ext cx="5048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Estructuración de contenidos mediante wireframes de baja fidelidad antes de la implementación.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238250" y="3971925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Enfoque en los servicios estrella.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238250" y="4505325"/>
            <a:ext cx="457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Reducción de la carga cognitiva.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1238250" y="5038725"/>
            <a:ext cx="497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Evolución de diseño orientada a la usabilidad (UX)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000125" y="571500"/>
            <a:ext cx="1095136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PROCESO DE DISEÑO UI/UX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7192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0532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03872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title="wireframeHom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0800" y="1410525"/>
            <a:ext cx="3459251" cy="461375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14562"/>
            <a:ext cx="33654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214562"/>
            <a:ext cx="3365450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214562"/>
            <a:ext cx="3365599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82725" y="2595562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1077913" y="3214687"/>
            <a:ext cx="27336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100% CSS Nativo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1143000" y="3767137"/>
            <a:ext cx="26034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Implementado globalmente en todas las vistas sin frameworks externos.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0113" y="2595562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4729114" y="3214687"/>
            <a:ext cx="27336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 Nativo (ES6)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4794200" y="3767137"/>
            <a:ext cx="2603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 de interacción y validación robusta del lado del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1462" y="2595562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8380310" y="3214687"/>
            <a:ext cx="273377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Tipografía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8445400" y="3767137"/>
            <a:ext cx="260359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Playfair Display (Elegancia) y Lato (Legibilidad y modernidad).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1000125" y="571500"/>
            <a:ext cx="1095136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STACK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375" y="1981200"/>
            <a:ext cx="2857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6381750" y="1633538"/>
            <a:ext cx="53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Arquitectura CSS Global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381750" y="2085375"/>
            <a:ext cx="504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Arquitectura de CSS nativo aplicada de forma integral en toda la Landing Page (Estructura, Catálogos y Formularios).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858000" y="3448050"/>
            <a:ext cx="4572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Líquido y Adaptable 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Combinación de Flexbox y CSS Grid.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858000" y="4333875"/>
            <a:ext cx="4572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 de menú Nativo: 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Uso exclusivo de Media Queries.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858000" y="5219700"/>
            <a:ext cx="4572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Rendimiento avanzado: 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prescindir de frameworks pesados (como Bootstrap).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000125" y="571500"/>
            <a:ext cx="1095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RESPONSIVE INTEGRAL: FILOSOFÍA PURISTA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44805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3338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521970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title="screencapture-127-0-0-1-5500-frontend-index-html-2026-05-28-11_30_5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3175" y="1364875"/>
            <a:ext cx="1277475" cy="5112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title="screencapture-127-0-0-1-5500-frontend-index-html-2026-05-28-11_32_04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99800" y="1364875"/>
            <a:ext cx="2737275" cy="511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86012"/>
            <a:ext cx="33654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86012"/>
            <a:ext cx="33654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86012"/>
            <a:ext cx="336559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763" y="2767012"/>
            <a:ext cx="485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1077913" y="3386137"/>
            <a:ext cx="27336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Catálogo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143000" y="3938587"/>
            <a:ext cx="2603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Tratamientos Faciales y Corporales estructurados para una lectura rápida.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2963" y="2767012"/>
            <a:ext cx="485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4729114" y="3386137"/>
            <a:ext cx="27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Captación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94200" y="3938587"/>
            <a:ext cx="260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Formularios de reserva y contacto con validación de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0" name="Google Shape;23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1462" y="2767012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8380310" y="3386137"/>
            <a:ext cx="273377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Gestión Admin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445400" y="3938587"/>
            <a:ext cx="26035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Acceso privado mediante Login para la administración del centro.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000125" y="571500"/>
            <a:ext cx="1095136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ARQUITECTURA DE CONTENIDOS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/>
          <p:nvPr/>
        </p:nvSpPr>
        <p:spPr>
          <a:xfrm>
            <a:off x="762000" y="1571625"/>
            <a:ext cx="5920829" cy="46291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22"/>
          <p:cNvGraphicFramePr/>
          <p:nvPr/>
        </p:nvGraphicFramePr>
        <p:xfrm>
          <a:off x="762000" y="1571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{CDC13ACB-E27D-47CE-ACBB-C24EDE242B41}</a:tableStyleId>
              </a:tblPr>
              <a:tblGrid>
                <a:gridCol w="1857375"/>
                <a:gridCol w="1803200"/>
                <a:gridCol w="2260250"/>
              </a:tblGrid>
              <a:tr h="115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Capa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Estado / Tecnología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50"/>
                        <a:buFont typeface="Arial"/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334155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Función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6E6"/>
                    </a:solidFill>
                  </a:tcPr>
                </a:tc>
              </a:tr>
              <a:tr h="115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Interfaz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Validada (W3C)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Captura de datos íntegros del cliente.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Comunicación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Validación JS / PHP POST 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de campos obligatorios en cliente y procesado en servidor. 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Persistencia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-US" sz="16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SQLite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Almacenamiento y gestión de la base de datos.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2"/>
          <p:cNvSpPr txBox="1"/>
          <p:nvPr/>
        </p:nvSpPr>
        <p:spPr>
          <a:xfrm>
            <a:off x="6969125" y="3105288"/>
            <a:ext cx="49005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en-US" sz="190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Los formularios de los clientes ejecutan una validación estricta en el Frontend antes del envío tradicional. El flujo completo con base de datos se reserva para la autenticación del administrador.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762000" y="3862387"/>
            <a:ext cx="1857375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2619375" y="3862387"/>
            <a:ext cx="1803201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4422576" y="3862387"/>
            <a:ext cx="2260252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762000" y="5024437"/>
            <a:ext cx="1857375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2619375" y="5024437"/>
            <a:ext cx="1803201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422576" y="5024437"/>
            <a:ext cx="2260252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762000" y="6186487"/>
            <a:ext cx="1857375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2619375" y="6186487"/>
            <a:ext cx="1803201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422576" y="6186487"/>
            <a:ext cx="2260252" cy="9525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000125" y="571500"/>
            <a:ext cx="1095136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INTEGRACIÓN FRONT-BACK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/>
        </p:nvSpPr>
        <p:spPr>
          <a:xfrm>
            <a:off x="1000125" y="571500"/>
            <a:ext cx="1095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DEMOSTRACIÓN EN VIVO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762000" y="571500"/>
            <a:ext cx="5715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1629743" y="20580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Entorno de Pruebas Local (Live Server) 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3210450" y="2801613"/>
            <a:ext cx="6939900" cy="26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Navegación fluida y carga optimizada de catálogos.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Flujo y comportamiento responsivo en tiempo real.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Validación nativa de datos en el formulario de contacto.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4700" y="29379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4700" y="346990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4700" y="4056375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495300" y="2047875"/>
            <a:ext cx="1120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33415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5524500" y="3095625"/>
            <a:ext cx="1143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762000" y="340042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continuación, cedo la palabra a mi compañera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Inmaculada Hortelano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762000" y="374332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quien detallará la lógica del servidor y la gestión de la base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762000" y="446722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Backend · Lógica ·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